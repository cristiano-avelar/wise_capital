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1654FE-B966-497F-8517-DD9ED31538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271D5A-55CC-4556-A70D-1EB220286F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3F934B-9F48-4F35-8D0B-E69BF0CB79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0C9DCB-9915-4DDD-A1A9-60554DFF7D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tângulo 7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" name="Retângulo 8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2" name="Elipse 3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&lt;footer&gt;</a:t>
            </a:r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BB394DD-0446-4DAB-8012-78C34CD95825}" type="slidenum"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0" name="Elipse 3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pt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&lt;footer&gt;</a:t>
            </a:r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413C1FB-0FED-4026-98EB-F46136AA48BA}" type="slidenum"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0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19" name="Retângulo 11"/>
          <p:cNvSpPr/>
          <p:nvPr/>
        </p:nvSpPr>
        <p:spPr>
          <a:xfrm>
            <a:off x="0" y="0"/>
            <a:ext cx="10079640" cy="377964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Clic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k to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edit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the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title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text 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for</a:t>
            </a:r>
            <a:r>
              <a:rPr b="0" lang="pt-BR" sz="4400" spc="-1" strike="noStrike">
                <a:solidFill>
                  <a:schemeClr val="dk1"/>
                </a:solidFill>
                <a:latin typeface="Arial"/>
              </a:rPr>
              <a:t>mat</a:t>
            </a:r>
            <a:endParaRPr b="0" lang="pt-BR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&lt;footer&gt;</a:t>
            </a:r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9180000" y="5130000"/>
            <a:ext cx="719640" cy="53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EC7EDFB-47C6-4B40-9AB2-133E03770010}" type="slidenum"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9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chemeClr val="dk1"/>
                </a:solidFill>
                <a:latin typeface="Arial"/>
              </a:rPr>
              <a:t>Click to edit the outline text </a:t>
            </a:r>
            <a:r>
              <a:rPr b="0" lang="pt-BR" sz="2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pt-BR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pt-BR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</a:rPr>
              <a:t>Seventh Outline </a:t>
            </a:r>
            <a:r>
              <a:rPr b="0" lang="pt-BR" sz="2000" spc="-1" strike="noStrike">
                <a:solidFill>
                  <a:schemeClr val="dk1"/>
                </a:solidFill>
                <a:latin typeface="Arial"/>
              </a:rPr>
              <a:t>Level</a:t>
            </a:r>
            <a:endParaRPr b="0" lang="pt-BR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19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28" name="Balão de Fala: Retângulo 20"/>
          <p:cNvSpPr/>
          <p:nvPr/>
        </p:nvSpPr>
        <p:spPr>
          <a:xfrm>
            <a:off x="2520000" y="1350000"/>
            <a:ext cx="5039640" cy="188964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60360" y="928800"/>
            <a:ext cx="7559280" cy="19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chemeClr val="dk1"/>
                </a:solidFill>
                <a:latin typeface="Arial"/>
                <a:ea typeface="DejaVu Sans"/>
              </a:rPr>
              <a:t>Clique para editar o título Mestre</a:t>
            </a:r>
            <a:endParaRPr b="0" lang="pt-BR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0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&lt;date/time&gt;</a:t>
            </a:r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&lt;footer&gt;</a:t>
            </a:r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2"/>
          </p:nvPr>
        </p:nvSpPr>
        <p:spPr>
          <a:xfrm>
            <a:off x="9180000" y="5130000"/>
            <a:ext cx="719640" cy="53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pt-BR" sz="1800" spc="-1" strike="noStrike">
                <a:solidFill>
                  <a:srgbClr val="ffffff"/>
                </a:solidFill>
                <a:latin typeface="Noto Sans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6495C0B-F957-4F8A-9170-BBD6C847FC27}" type="slidenum">
              <a:rPr b="1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983520"/>
            <a:ext cx="9359640" cy="20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4800" spc="-1" strike="noStrike">
                <a:solidFill>
                  <a:srgbClr val="ffffff"/>
                </a:solidFill>
                <a:latin typeface="Noto Sans"/>
                <a:ea typeface="DejaVu Sans"/>
              </a:rPr>
              <a:t>Wise </a:t>
            </a:r>
            <a:r>
              <a:rPr b="1" lang="pt-BR" sz="4800" spc="-1" strike="noStrike">
                <a:solidFill>
                  <a:srgbClr val="ffffff"/>
                </a:solidFill>
                <a:latin typeface="Noto Sans"/>
                <a:ea typeface="DejaVu Sans"/>
              </a:rPr>
              <a:t>Capita</a:t>
            </a:r>
            <a:r>
              <a:rPr b="1" lang="pt-BR" sz="4800" spc="-1" strike="noStrike">
                <a:solidFill>
                  <a:srgbClr val="ffffff"/>
                </a:solidFill>
                <a:latin typeface="Noto Sans"/>
                <a:ea typeface="DejaVu Sans"/>
              </a:rPr>
              <a:t>l</a:t>
            </a:r>
            <a:br>
              <a:rPr sz="4800"/>
            </a:br>
            <a:endParaRPr b="0" lang="pt-BR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360000" y="247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200" spc="-1" strike="noStrike">
                <a:solidFill>
                  <a:srgbClr val="ffffff"/>
                </a:solidFill>
                <a:latin typeface="Noto Sans"/>
                <a:ea typeface="DejaVu Sans"/>
              </a:rPr>
              <a:t>Site de aprendizado financeiro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tângulo 28"/>
          <p:cNvSpPr/>
          <p:nvPr/>
        </p:nvSpPr>
        <p:spPr>
          <a:xfrm>
            <a:off x="3060000" y="4140000"/>
            <a:ext cx="3959640" cy="359640"/>
          </a:xfrm>
          <a:prstGeom prst="rect">
            <a:avLst/>
          </a:prstGeom>
          <a:solidFill>
            <a:srgbClr val="ffffff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2c3e50"/>
                </a:solidFill>
                <a:latin typeface="Noto Sans"/>
                <a:ea typeface="DejaVu Sans"/>
              </a:rPr>
              <a:t>Feito por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CaixaDeTexto 29"/>
          <p:cNvSpPr/>
          <p:nvPr/>
        </p:nvSpPr>
        <p:spPr>
          <a:xfrm>
            <a:off x="900000" y="4524480"/>
            <a:ext cx="8099640" cy="102312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Matheus Medeiros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Victório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Cristiano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7920000" y="236880"/>
            <a:ext cx="1832040" cy="174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700" spc="-1" strike="noStrike">
                <a:solidFill>
                  <a:srgbClr val="ffffff"/>
                </a:solidFill>
                <a:latin typeface="Noto Sans"/>
              </a:rPr>
              <a:t>Nosso projeto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80000" y="1440000"/>
            <a:ext cx="377964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pt-BR" sz="4200" spc="-1" strike="noStrike">
                <a:solidFill>
                  <a:srgbClr val="2c3e50"/>
                </a:solidFill>
                <a:latin typeface="Noto Sans"/>
              </a:rPr>
              <a:t>Wise Capital</a:t>
            </a:r>
            <a:endParaRPr b="0" lang="pt-BR" sz="4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pt-BR" sz="12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5400000" y="1440000"/>
            <a:ext cx="3780000" cy="3596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DFB836-F224-44BA-B1C8-BB6FCD33912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pt-BR" sz="2700" spc="-1" strike="noStrike">
                <a:solidFill>
                  <a:srgbClr val="ffffff"/>
                </a:solidFill>
                <a:latin typeface="Arial"/>
                <a:ea typeface="Arial"/>
              </a:rPr>
              <a:t>Requisitos funcionais e não funcionais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44" name=""/>
          <p:cNvGraphicFramePr/>
          <p:nvPr/>
        </p:nvGraphicFramePr>
        <p:xfrm>
          <a:off x="3390480" y="1080000"/>
          <a:ext cx="3629520" cy="4187520"/>
        </p:xfrm>
        <a:graphic>
          <a:graphicData uri="http://schemas.openxmlformats.org/drawingml/2006/table">
            <a:tbl>
              <a:tblPr/>
              <a:tblGrid>
                <a:gridCol w="1463400"/>
                <a:gridCol w="2166120"/>
              </a:tblGrid>
              <a:tr h="2484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#RF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nome da função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rf-01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Cadastrar Usuário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rf-02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Login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rf-03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Menu Principal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rf-04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Listagem de Tarefas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rf-05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Bloqueio de Progressão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rf-06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Realização de Quiz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6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rf-07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Calculadora de Investimentos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386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rf-08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Cálculo de Rentabilidade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6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rf-09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Conversor de Moedas (Câmbio)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rf-10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Inversão de Moedas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rf-11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Sistema de Pontuação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2779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rf-12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Visualização de Ranking</a:t>
                      </a:r>
                      <a:endParaRPr b="0" lang="pt-BR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79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ffffff"/>
                          </a:solidFill>
                          <a:highlight>
                            <a:srgbClr val="00a933"/>
                          </a:highlight>
                          <a:latin typeface="Arial"/>
                        </a:rPr>
                        <a:t>rf-13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highlight>
                          <a:srgbClr val="00a933"/>
                        </a:highlight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9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Central de Ajuda (FAQ)</a:t>
                      </a:r>
                      <a:endParaRPr b="0" lang="pt-BR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246E0C-9BE7-4F1A-96E1-F905545DF70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3"/>
          </p:nvPr>
        </p:nvSpPr>
        <p:spPr>
          <a:xfrm>
            <a:off x="9123480" y="5255640"/>
            <a:ext cx="424800" cy="301680"/>
          </a:xfrm>
          <a:prstGeom prst="rect">
            <a:avLst/>
          </a:prstGeom>
          <a:noFill/>
          <a:ln w="7200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1" lang="en-US" sz="1200" spc="-1" strike="noStrike">
                <a:solidFill>
                  <a:schemeClr val="dk1">
                    <a:alpha val="80000"/>
                  </a:schemeClr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95F9E302-FD41-480F-8695-972A1A760A87}" type="slidenum">
              <a:rPr b="1" lang="en-US" sz="1200" spc="-1" strike="noStrike">
                <a:solidFill>
                  <a:schemeClr val="dk1">
                    <a:alpha val="80000"/>
                  </a:schemeClr>
                </a:solidFill>
                <a:latin typeface="Arial"/>
                <a:ea typeface="DejaVu Sans"/>
              </a:rPr>
              <a:t>4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80000" y="360000"/>
            <a:ext cx="79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DejaVu Sans"/>
              </a:rPr>
              <a:t>Banco de Dados e boas praticas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60000" y="1440000"/>
            <a:ext cx="918000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Chaves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Primárias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Estrangeir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Explícitas: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uso de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REFERENCES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garante 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integridade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referencial do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banco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60000" y="2145960"/>
            <a:ext cx="9180000" cy="51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Tabela de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Associaçã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N:M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Perfeita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: 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tabela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usuario_quizze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s_feitos usa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uma chave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primária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composta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(PRIMARY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KEY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(usuario_id,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quiz_id)). Isso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impede que 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mesmo usuário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registre que fez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mesmo quiz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duas vezes na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mesma data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60000" y="2880000"/>
            <a:ext cx="918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pl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íc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it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s: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efi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nir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tip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R(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)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LT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'F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A'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pe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rg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un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pa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dr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iz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gr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ne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gó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ci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dir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et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ba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nc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60000" y="3780000"/>
            <a:ext cx="91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Tipagem de Valores Financeiros: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Usar DECIMAL(5,2) para os retornos de investimentos é a prática perfeita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360000" y="2160360"/>
            <a:ext cx="9180000" cy="539640"/>
          </a:xfrm>
          <a:prstGeom prst="rect">
            <a:avLst/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Tabela de </a:t>
            </a: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Associação N:M </a:t>
            </a: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Perfeita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: A tabela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usuario_quizzes_feitos usa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uma chave primária composta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(PRIMARY KEY (usuario_id,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quiz_id)). Isso impede que o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mesmo usuário registre que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fez o mesmo quiz duas vezes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na mesma data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60000" y="3600360"/>
            <a:ext cx="9180000" cy="539640"/>
          </a:xfrm>
          <a:prstGeom prst="rect">
            <a:avLst/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Tipagem de Valores </a:t>
            </a: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Financeiros: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Usar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DECIMAL(5,2) para os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retornos de investimentos é 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prática perfeita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pt-BR" sz="2700" spc="-1" strike="noStrike">
                <a:solidFill>
                  <a:srgbClr val="ffffff"/>
                </a:solidFill>
                <a:latin typeface="Arial"/>
                <a:ea typeface="Arial"/>
              </a:rPr>
              <a:t>Todas as telas de listagem e CRUDs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0000" y="126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Usuário (Usuario)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Onde está: UsuarioDAO, Usuario.java, UsuarioService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que faz: Cadastro, login, atualização de perfil e controle de dias de acesso (streaks).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60000" y="270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Tópico do Fórum (ForumTopico)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Onde está: ForumDAO, ForumTopico.java,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ForumService (Este é o seu módulo!).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 que faz: Criar tópicos, listar postagens, curtir e deletar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discussões.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60000" y="414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Comentário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do Fórum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(ForumCom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entario)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Onde está: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ComentarioDA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O,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ForumComent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ario.java (Ele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divide 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ForumService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com os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tópicos).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que faz: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Adicionar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respostas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dentro de um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tópico, dar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likes e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estruturar as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conversas.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040000" y="126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Quiz (Quiz)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Onde está: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QuizDAO,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Quiz.java,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QuizService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 que faz: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Gerenciar os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questionários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(quizzes de 1 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100), carregar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as perguntas e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salvar o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progresso dos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alunos.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040000" y="270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Trilha de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Aprendizad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(NivelTrilha)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Onde está: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TrilhaDAO,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NivelTrilha.java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, TrilhaService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 que faz: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Controlar os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níveis da trilha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e liberar 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acesso aos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conteúdos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baseado na IA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ou no </a:t>
            </a: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diagnóstico.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040000" y="4140000"/>
            <a:ext cx="4140000" cy="12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FAQ / </a:t>
            </a:r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Perguntas </a:t>
            </a:r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Frequentes </a:t>
            </a:r>
            <a:r>
              <a:rPr b="1" lang="pt-BR" sz="1400" spc="-1" strike="noStrike">
                <a:solidFill>
                  <a:srgbClr val="ffffff"/>
                </a:solidFill>
                <a:latin typeface="Arial"/>
              </a:rPr>
              <a:t>(Faq)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Onde está: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FaqDAO,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Faq.java,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FaqService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O que faz: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Criar, ler e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atualizar as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dúvidas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frequentes e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registrar a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contagem de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acessos </a:t>
            </a:r>
            <a:r>
              <a:rPr b="0" lang="pt-BR" sz="1200" spc="-1" strike="noStrike">
                <a:solidFill>
                  <a:srgbClr val="ffffff"/>
                </a:solidFill>
                <a:latin typeface="Arial"/>
              </a:rPr>
              <a:t>(views).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B8BFE8-E78F-485A-BB0C-D1F20D5C856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pt-BR" sz="2700" spc="-1" strike="noStrike">
                <a:solidFill>
                  <a:srgbClr val="ffffff"/>
                </a:solidFill>
                <a:latin typeface="Arial"/>
                <a:ea typeface="Arial"/>
              </a:rPr>
              <a:t>Sistemas Inteligentes Utilizados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360000" y="1440000"/>
            <a:ext cx="3960000" cy="198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Diagnóstico de Perfil de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Investidor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A IA atua como um </a:t>
            </a:r>
            <a:r>
              <a:rPr b="0" lang="pt-BR" sz="1600" spc="-1" strike="noStrike">
                <a:solidFill>
                  <a:srgbClr val="000000"/>
                </a:solidFill>
                <a:highlight>
                  <a:srgbClr val="a1467e"/>
                </a:highlight>
                <a:latin typeface="Arial"/>
              </a:rPr>
              <a:t>analista financeiro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analisando as respostas do questionário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inicial do utilizador e classificando-o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automaticamente nos níveis 1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(Iniciante), 2 (Intermediário) ou 3 </a:t>
            </a:r>
            <a:r>
              <a:rPr b="0" lang="pt-BR" sz="1600" spc="-1" strike="noStrike">
                <a:solidFill>
                  <a:srgbClr val="000000"/>
                </a:solidFill>
                <a:latin typeface="Arial"/>
              </a:rPr>
              <a:t>(Avançado).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400000" y="3240000"/>
            <a:ext cx="4140000" cy="198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spcAft>
                <a:spcPts val="567"/>
              </a:spcAft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Correção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Automáti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ca de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Quizzes: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A IA atua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como um </a:t>
            </a:r>
            <a:r>
              <a:rPr b="0" lang="pt-BR" sz="1500" spc="-1" strike="noStrike">
                <a:solidFill>
                  <a:srgbClr val="000000"/>
                </a:solidFill>
                <a:highlight>
                  <a:srgbClr val="a1467e"/>
                </a:highlight>
                <a:latin typeface="Arial"/>
              </a:rPr>
              <a:t>professor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recebendo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as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respostas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dissertativa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 dos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alunos,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calculando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uma nota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de 0 a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100% e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gerando um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feedback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personaliza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do com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dicas de </a:t>
            </a: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melhoria. 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3231360" y="3591360"/>
            <a:ext cx="1808640" cy="1808640"/>
          </a:xfrm>
          <a:prstGeom prst="rect">
            <a:avLst/>
          </a:prstGeom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4680000" y="1277280"/>
            <a:ext cx="1800000" cy="180000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3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788E54-3703-4F15-AF2F-C3353C82978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pt-BR" sz="2800" spc="-1" strike="noStrike">
                <a:solidFill>
                  <a:srgbClr val="ffffff"/>
                </a:solidFill>
                <a:latin typeface="Arial"/>
                <a:ea typeface="Arial"/>
              </a:rPr>
              <a:t>Serviços Online de IA utilizados </a:t>
            </a:r>
            <a:endParaRPr b="0" lang="pt-B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60000" y="2160000"/>
            <a:ext cx="3960000" cy="21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pt-BR" sz="2100" spc="-1" strike="noStrike">
                <a:solidFill>
                  <a:srgbClr val="ffffff"/>
                </a:solidFill>
                <a:latin typeface="Arial"/>
              </a:rPr>
              <a:t>Azure </a:t>
            </a:r>
            <a:r>
              <a:rPr b="1" lang="pt-BR" sz="2100" spc="-1" strike="noStrike">
                <a:solidFill>
                  <a:srgbClr val="ffffff"/>
                </a:solidFill>
                <a:latin typeface="Arial"/>
              </a:rPr>
              <a:t>OpenAI</a:t>
            </a: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: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(via Azure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AI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Foundry),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recorrendo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ao modelo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de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inferência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gpt-5.4-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nano. A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comunicaç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ão foi feita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via API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RESTful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com o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formato de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Chat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Completion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</a:rPr>
              <a:t>s.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60000" y="4500000"/>
            <a:ext cx="8640000" cy="72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https://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formulario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ia.service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s.ai.azure.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com/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openai/v1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60000" y="1440000"/>
            <a:ext cx="3420000" cy="54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Os serviços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utilizados foram: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5760000" y="1260000"/>
            <a:ext cx="3060000" cy="306000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E9C5EAF-B386-425E-A301-C34F3420114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2700" spc="-1" strike="noStrike">
                <a:solidFill>
                  <a:srgbClr val="ffffff"/>
                </a:solidFill>
                <a:latin typeface="Arial"/>
                <a:ea typeface="Arial"/>
              </a:rPr>
              <a:t>Especificação do sistema Inteligente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Retângulo: Cantos Arredondados 3"/>
          <p:cNvSpPr/>
          <p:nvPr/>
        </p:nvSpPr>
        <p:spPr>
          <a:xfrm>
            <a:off x="276120" y="1573560"/>
            <a:ext cx="4354200" cy="34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3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2760" rIns="122760" tIns="77760" bIns="77760" anchor="ctr">
            <a:noAutofit/>
          </a:bodyPr>
          <a:p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77" name="CaixaDeTexto 4"/>
          <p:cNvSpPr/>
          <p:nvPr/>
        </p:nvSpPr>
        <p:spPr>
          <a:xfrm>
            <a:off x="511920" y="1755720"/>
            <a:ext cx="253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Especifica</a:t>
            </a: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ções da </a:t>
            </a: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aixaDeTexto 6"/>
          <p:cNvSpPr/>
          <p:nvPr/>
        </p:nvSpPr>
        <p:spPr>
          <a:xfrm>
            <a:off x="563400" y="2881800"/>
            <a:ext cx="385344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Tipo de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Aprendizad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o: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Base de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conheciment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o treinada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previamente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, com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inferência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gerada em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tempo real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no sistema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via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engenharia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de prompt.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aixaDeTexto 6"/>
          <p:cNvSpPr/>
          <p:nvPr/>
        </p:nvSpPr>
        <p:spPr>
          <a:xfrm>
            <a:off x="563400" y="2268720"/>
            <a:ext cx="3735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Fornecedor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 Modelo: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API de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Inferência do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Azure utiliza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ndo 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modelo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GPT-4o-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mini.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aixaDeTexto 6"/>
          <p:cNvSpPr/>
          <p:nvPr/>
        </p:nvSpPr>
        <p:spPr>
          <a:xfrm>
            <a:off x="563400" y="3840840"/>
            <a:ext cx="385344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Proposta de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Valor: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Oferecer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personalizaç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ão do ensino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 feedback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qualitativo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em tempo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real,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eliminando 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necessidade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de correção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humana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manual para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cada aluno.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tângulo: Cantos Arredondados 11"/>
          <p:cNvSpPr/>
          <p:nvPr/>
        </p:nvSpPr>
        <p:spPr>
          <a:xfrm>
            <a:off x="5093640" y="1573560"/>
            <a:ext cx="4354200" cy="34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3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2760" rIns="122760" tIns="77760" bIns="77760" anchor="ctr">
            <a:noAutofit/>
          </a:bodyPr>
          <a:p>
            <a:endParaRPr b="0" lang="pt-BR" sz="1800" spc="-1" strike="noStrike">
              <a:solidFill>
                <a:srgbClr val="2c3e50"/>
              </a:solidFill>
              <a:latin typeface="Noto Sans"/>
              <a:ea typeface="DejaVu Sans"/>
            </a:endParaRPr>
          </a:p>
        </p:txBody>
      </p:sp>
      <p:sp>
        <p:nvSpPr>
          <p:cNvPr id="82" name="CaixaDeTexto 12"/>
          <p:cNvSpPr/>
          <p:nvPr/>
        </p:nvSpPr>
        <p:spPr>
          <a:xfrm>
            <a:off x="5384520" y="1755720"/>
            <a:ext cx="360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Funcionali</a:t>
            </a: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dades </a:t>
            </a: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Implemen</a:t>
            </a:r>
            <a:r>
              <a:rPr b="0" lang="pt-BR" sz="1800" spc="-1" strike="noStrike">
                <a:solidFill>
                  <a:schemeClr val="dk1"/>
                </a:solidFill>
                <a:latin typeface="Arial"/>
                <a:ea typeface="Arial"/>
              </a:rPr>
              <a:t>tadas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CaixaDeTexto 6"/>
          <p:cNvSpPr/>
          <p:nvPr/>
        </p:nvSpPr>
        <p:spPr>
          <a:xfrm>
            <a:off x="5388840" y="2127240"/>
            <a:ext cx="3790800" cy="28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Diagnóstico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de Perfil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Financeiro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Entrada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(Input):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Resposta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s do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usuário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sobre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reserva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emergên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cia 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riscos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em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formato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JSON.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Saída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(Output)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Classific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ação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automáti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ca do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aluno no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Nível 1, 2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ou 3 da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trilha.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Correção de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Quizzes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Abertos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Entrada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(Input):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pergunta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discursiv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 e 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resposta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em texto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digitada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pelo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aluno.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Saída 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(Output)</a:t>
            </a:r>
            <a:r>
              <a:rPr b="1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: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 Nota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em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porcenta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gem (0 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100%) e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um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feedback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textual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com a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correção 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detalhad</a:t>
            </a:r>
            <a:r>
              <a:rPr b="0" lang="pt-BR" sz="1400" spc="-1" strike="noStrike">
                <a:solidFill>
                  <a:schemeClr val="dk1"/>
                </a:solidFill>
                <a:latin typeface="Arial"/>
                <a:ea typeface="Arial"/>
              </a:rPr>
              <a:t>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8539200" y="0"/>
            <a:ext cx="1180800" cy="1123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E4C1E9-35E5-4261-A145-F4F1406A393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2700" spc="-1" strike="noStrike">
                <a:solidFill>
                  <a:srgbClr val="ffffff"/>
                </a:solidFill>
                <a:latin typeface="Arial"/>
                <a:ea typeface="Arial"/>
              </a:rPr>
              <a:t>Segurança da informação</a:t>
            </a:r>
            <a:endParaRPr b="0" lang="pt-BR" sz="27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380720" y="1800000"/>
            <a:ext cx="2700000" cy="270000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8539200" y="0"/>
            <a:ext cx="1180800" cy="108000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31680" y="1267560"/>
            <a:ext cx="7348320" cy="3952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26041F-C5A7-496C-9BD9-3278743F710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80360" y="18144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pt-BR" sz="2800" spc="-1" strike="noStrike">
                <a:solidFill>
                  <a:srgbClr val="ffffff"/>
                </a:solidFill>
                <a:latin typeface="Arial"/>
              </a:rPr>
              <a:t>O banco de dados está hospedado em nuvem</a:t>
            </a:r>
            <a:endParaRPr b="1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80000" y="1440000"/>
            <a:ext cx="3960000" cy="72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5983b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rodar o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banco de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dados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siga as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intruções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60000" y="2520000"/>
            <a:ext cx="8640000" cy="220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No menu superior do Eclipse, clique em Run e depois em Run Configurations...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No painel esquerdo, clique em Java Application e selecione a sua classe principal (geralmente Aplicacao).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Vá à aba Environment (Ambiente).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Clique no botão New... (Novo).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Preencha assim: Name: AZURE_OPENAI_KEY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Value: 9OBmIJGnz8bnnN97jTuEZnjrUTJGyqy23KDb315YHEHWY0J98l53JQQJ99CFACBsN54XJ3w3AAAAACOGA85u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Font typeface="OpenSymbol"/>
              <a:buAutoNum type="arabicParenR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Clique em OK, depois em Apply e em Run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6D1255-C1A2-4C99-94FC-885404940F7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80360" y="18144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94040" cy="56707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47E0D4-B92B-43D7-848B-EF998FCF739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80000" y="443520"/>
            <a:ext cx="7019640" cy="20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just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8000" spc="-1" strike="noStrike">
                <a:solidFill>
                  <a:srgbClr val="ffffff"/>
                </a:solidFill>
                <a:latin typeface="Noto Sans"/>
                <a:ea typeface="DejaVu Sans"/>
              </a:rPr>
              <a:t>Obrigado!</a:t>
            </a:r>
            <a:endParaRPr b="0" lang="pt-BR" sz="8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Retângulo 75"/>
          <p:cNvSpPr/>
          <p:nvPr/>
        </p:nvSpPr>
        <p:spPr>
          <a:xfrm>
            <a:off x="0" y="3780000"/>
            <a:ext cx="3959640" cy="359640"/>
          </a:xfrm>
          <a:prstGeom prst="rect">
            <a:avLst/>
          </a:prstGeom>
          <a:solidFill>
            <a:srgbClr val="ffffff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2c3e50"/>
                </a:solidFill>
                <a:latin typeface="Noto Sans"/>
                <a:ea typeface="DejaVu Sans"/>
              </a:rPr>
              <a:t>Feito por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CaixaDeTexto 76"/>
          <p:cNvSpPr/>
          <p:nvPr/>
        </p:nvSpPr>
        <p:spPr>
          <a:xfrm>
            <a:off x="720000" y="4376520"/>
            <a:ext cx="8099640" cy="102312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Matheus Medeiros  -  Victório  -  Cristiano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aixaDeTexto 1"/>
          <p:cNvSpPr/>
          <p:nvPr/>
        </p:nvSpPr>
        <p:spPr>
          <a:xfrm>
            <a:off x="899280" y="3094560"/>
            <a:ext cx="8099640" cy="68940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  <a:ea typeface="Arial"/>
              </a:rPr>
              <a:t>https://github.com/ICEI-PUC-Minas-CC-TI/plmg-cc-ti2-2026-1-v2-g9-wisecapital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2026-04-24T07:37:45Z</dcterms:created>
  <dc:creator/>
  <dc:description/>
  <dc:language>pt-BR</dc:language>
  <cp:lastModifiedBy/>
  <dcterms:modified xsi:type="dcterms:W3CDTF">2026-06-11T19:28:07Z</dcterms:modified>
  <cp:revision>268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7</vt:i4>
  </property>
</Properties>
</file>